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914400"/>
            <a:ext cx="10728655" cy="51206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280160"/>
            <a:ext cx="9784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0284C7"/>
                </a:solidFill>
                <a:latin typeface="Segoe UI"/>
              </a:defRPr>
            </a:pPr>
            <a:r>
              <a:t>INDUSTRIAL DATA SCIENCE CASE STUDY</a:t>
            </a:r>
          </a:p>
          <a:p>
            <a:pPr>
              <a:spcAft>
                <a:spcPts val="1200"/>
              </a:spcAft>
              <a:defRPr sz="4600" b="1">
                <a:solidFill>
                  <a:srgbClr val="0F172A"/>
                </a:solidFill>
                <a:latin typeface="Segoe UI"/>
              </a:defRPr>
            </a:pPr>
            <a:r>
              <a:t>Saving Millions in the Wind</a:t>
            </a:r>
          </a:p>
          <a:p>
            <a:pPr>
              <a:spcAft>
                <a:spcPts val="2600"/>
              </a:spcAft>
              <a:defRPr sz="2200">
                <a:solidFill>
                  <a:srgbClr val="475569"/>
                </a:solidFill>
                <a:latin typeface="Segoe UI"/>
              </a:defRPr>
            </a:pPr>
            <a:r>
              <a:t>How Physics, Machine Learning &amp; Explainable AI Spot Turbine Failures Weeks in Advance</a:t>
            </a:r>
          </a:p>
          <a:p>
            <a:pPr>
              <a:spcAft>
                <a:spcPts val="800"/>
              </a:spcAft>
              <a:defRPr sz="1800" b="1">
                <a:solidFill>
                  <a:srgbClr val="1E3A8A"/>
                </a:solidFill>
                <a:latin typeface="Segoe UI"/>
              </a:defRPr>
            </a:pPr>
            <a:r>
              <a:t>Key Results at a Glance: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8 to 34 Days Early Warning before catastrophic breakdown across all key components.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0.67-Second Machine Learning Training on 100,000 records (109 MB RAM, 0.83 AUC).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Zero Fake Data (No SMOTE hallucinations) — 100% genuine physical SCADA telemetry.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Explainable AI (SHAP &amp; LIME) directly pointing maintenance crews to failing bearings.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STEP 1: 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The High Stakes of Wind Turbine Breakdowns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>
                <a:solidFill>
                  <a:srgbClr val="475569"/>
                </a:solidFill>
                <a:latin typeface="Segoe UI"/>
              </a:defRPr>
            </a:pPr>
            <a:r>
              <a:t>Why waiting for alarms to trip at sea costs hundreds of thousands of dollars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832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1E3A8A"/>
                </a:solidFill>
                <a:latin typeface="Segoe UI"/>
              </a:defRPr>
            </a:pPr>
            <a:r>
              <a:t>The Machine</a:t>
            </a:r>
          </a:p>
          <a:p>
            <a:pPr>
              <a:spcAft>
                <a:spcPts val="8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300-ft tall mechanical giants standing in rough offshore seas.</a:t>
            </a:r>
          </a:p>
          <a:p>
            <a:pPr>
              <a:spcAft>
                <a:spcPts val="8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Blades span 80+ meters, capturing colossal kinetic wind energy.</a:t>
            </a:r>
          </a:p>
          <a:p>
            <a:pPr>
              <a:spcAft>
                <a:spcPts val="8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A 20-ton internal gearbox accelerates rotor speed from 15 RPM to 1,500 RPM for the generator.</a:t>
            </a:r>
          </a:p>
          <a:p>
            <a:pPr>
              <a:spcAft>
                <a:spcPts val="8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Extreme mechanical friction and cyclic fatigue on internal bearings 24/7.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0312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DC2626"/>
                </a:solidFill>
                <a:latin typeface="Segoe UI"/>
              </a:defRPr>
            </a:pPr>
            <a:r>
              <a:t>The Breakdown</a:t>
            </a:r>
          </a:p>
          <a:p>
            <a:pPr>
              <a:spcAft>
                <a:spcPts val="8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A shattered gearbox costs $150,000+ in hardware alone.</a:t>
            </a:r>
          </a:p>
          <a:p>
            <a:pPr>
              <a:spcAft>
                <a:spcPts val="8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Chartering an offshore crane vessel costs $25,000 to $40,000 per day.</a:t>
            </a:r>
          </a:p>
          <a:p>
            <a:pPr>
              <a:spcAft>
                <a:spcPts val="8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Rough winter weather blocks ships, causing 6 to 8 weeks of idle downtime.</a:t>
            </a:r>
          </a:p>
          <a:p>
            <a:pPr>
              <a:spcAft>
                <a:spcPts val="8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Total bill per emergency failure: $250,000 to $350,000+ in parts, boats, and lost green power.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20240"/>
            <a:ext cx="33832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0312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16A34A"/>
                </a:solidFill>
                <a:latin typeface="Segoe UI"/>
              </a:defRPr>
            </a:pPr>
            <a:r>
              <a:t>Our Mission</a:t>
            </a:r>
          </a:p>
          <a:p>
            <a:pPr>
              <a:spcAft>
                <a:spcPts val="8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Detect internal wear 2 to 4 weeks BEFORE the turbine trips and halts.</a:t>
            </a:r>
          </a:p>
          <a:p>
            <a:pPr>
              <a:spcAft>
                <a:spcPts val="8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Use existing SCADA temperature and vibration sensors without buying new hardware.</a:t>
            </a:r>
          </a:p>
          <a:p>
            <a:pPr>
              <a:spcAft>
                <a:spcPts val="8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Give crews time to order parts and wait for calm weather windows.</a:t>
            </a:r>
          </a:p>
          <a:p>
            <a:pPr>
              <a:spcAft>
                <a:spcPts val="8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Avoid false alarms so maintenance managers genuinely trust the system.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STEP 2: THE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What Data Did We Listen To? (CARE_To_Compare)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>
                <a:solidFill>
                  <a:srgbClr val="475569"/>
                </a:solidFill>
                <a:latin typeface="Segoe UI"/>
              </a:defRPr>
            </a:pPr>
            <a:r>
              <a:t>89 years of real SCADA telemetry across 36 turbines in Portugal and Germany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2120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284C7"/>
                </a:solidFill>
                <a:latin typeface="Segoe UI"/>
              </a:defRPr>
            </a:pPr>
            <a:r>
              <a:t>Multi-Farm Telemetry Network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Farm A (Portugal, Onshore): 5 turbines, 22 datasets, 86 sensor channels with ground-truth failure logs.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Farm B &amp; C (Germany, Offshore): 73 datasets, up to 957 sensor channels in harsh marine environments.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Standard 10-Minute Telemetry (IEC 61400-25): Mean, min, max, and standard deviation recorded continuously.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Monitored Signals: Wind speed, electric power, generator bearing temps, gearbox oil temps, rotor RPM, blade pitch.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0312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1E3A8A"/>
                </a:solidFill>
                <a:latin typeface="Segoe UI"/>
              </a:defRPr>
            </a:pPr>
            <a:r>
              <a:t>Anatomy of Monitored Events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1 Full Year of Normal History: Exactly ~52,000 rows establishing baseline seasonal operating behavior.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2 to 4-Week Prediction Window: The subsequent critical period evaluated for incipient mechanical fault.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44 Labeled Anomaly Cases vs 51 Healthy Controls: Ground-truth confirmed failures across 4 critical sub-assemblies.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Monitored Components: Gearbox High-Speed Shaft, Generator Drive-End Bearing, Transformer Winding, Hydraulics.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STEP 3: GROUND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Avoiding the Two Classic AI Cheats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>
                <a:solidFill>
                  <a:srgbClr val="475569"/>
                </a:solidFill>
                <a:latin typeface="Segoe UI"/>
              </a:defRPr>
            </a:pPr>
            <a:r>
              <a:t>Why naive data science achieves 99% accuracy on paper but fails completely in the real world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2120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DC2626"/>
                </a:solidFill>
                <a:latin typeface="Segoe UI"/>
              </a:defRPr>
            </a:pPr>
            <a:r>
              <a:t>Trap 1: The 'Status Code' Shortcut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In raw SCADA data, there is a column called status_type_id (0=Normal, 4=Downtime).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When a turbine breaks down and stops, this column flips to 4.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A naive AI learns: 'If status is 4, it is broken!' and boasts 99.9% accuracy.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WHY THIS IS USELESS: The wind farm already knows the machine is broken when it stops spinning!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OUR FIX: We strictly erased all status codes from predictive features, forcing the model to detect trouble while the turbine is still running normally.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0312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D97706"/>
                </a:solidFill>
                <a:latin typeface="Segoe UI"/>
              </a:defRPr>
            </a:pPr>
            <a:r>
              <a:t>Trap 2: The 'Fake Data' Trap (SMOTE)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Because failures are rare, data scientists often generate synthetic samples with SMOTE.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THE PHYSICAL FLAW: Turbines obey strict laws of thermodynamics and Betz aerodynamic limits.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A mathematical algorithm blindly invents data points: e.g. 2,000 kW power at zero wind speed and 90° blade pitch!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That is physically impossible in the real world.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OUR COMMITMENT: Zero synthetic data. Every single observation in our model is 100% genuine sensor telemetry.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STEP 4: PHYSICS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The 'Rising Fever' Breakthrough (Delta 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>
                <a:solidFill>
                  <a:srgbClr val="475569"/>
                </a:solidFill>
                <a:latin typeface="Segoe UI"/>
              </a:defRPr>
            </a:pPr>
            <a:r>
              <a:t>Why raw temperature lies to models and how basic thermodynamics isolates friction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2120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D97706"/>
                </a:solidFill>
                <a:latin typeface="Segoe UI"/>
              </a:defRPr>
            </a:pPr>
            <a:r>
              <a:t>The Weather Confounding Trap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In hot July, a perfectly healthy bearing reaches 60°C simply because the air is 38°C.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In freezing January, a dying, grinding bearing might only reach 45°C because the air is 2°C.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If you feed raw temperatures to an AI, it treats summer as an emergency and misses winter breakdowns!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THE CHALLENGE: How do you isolate mechanical friction from outside weather fluctuations?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0312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16A34A"/>
                </a:solidFill>
                <a:latin typeface="Segoe UI"/>
              </a:defRPr>
            </a:pPr>
            <a:r>
              <a:t>The Thermodynamic Solution (Delta T)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Just like a doctor measures a fever above room temperature, we subtracted outside weather: Delta T = T_Component - T_Ambient.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This wiped out summer/winter seasonal noise and exposed pure bearing and gear friction.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Causal 6-Hour Rolling Fever: Tracks slow, creeping heat accumulation without future leakage.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Gearbox Slip Ratio (RPM_gen / RPM_rotor): Flags dragging or slipping mechanical gears.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STEP 5: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Sub-Second Machine Learning (Why XGBoost Wins)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>
                <a:solidFill>
                  <a:srgbClr val="475569"/>
                </a:solidFill>
                <a:latin typeface="Segoe UI"/>
              </a:defRPr>
            </a:pPr>
            <a:r>
              <a:t>Why tabular SCADA telemetry needs gradient boosted trees, not heavy deep neural networks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832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1E3A8A"/>
                </a:solidFill>
                <a:latin typeface="Segoe UI"/>
              </a:defRPr>
            </a:pPr>
            <a:r>
              <a:t>Logistic Regression</a:t>
            </a:r>
          </a:p>
          <a:p>
            <a:pPr>
              <a:spcAft>
                <a:spcPts val="8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Training Time: 1.61 seconds.</a:t>
            </a:r>
          </a:p>
          <a:p>
            <a:pPr>
              <a:spcAft>
                <a:spcPts val="8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Test AUC: 0.7544.</a:t>
            </a:r>
          </a:p>
          <a:p>
            <a:pPr>
              <a:spcAft>
                <a:spcPts val="8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Pros: Simple, highly interpretable linear coefficients.</a:t>
            </a:r>
          </a:p>
          <a:p>
            <a:pPr>
              <a:spcAft>
                <a:spcPts val="8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Cons: Cannot capture non-linear aerodynamic power curves or multi-sensor thermal interactions.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0312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1E3A8A"/>
                </a:solidFill>
                <a:latin typeface="Segoe UI"/>
              </a:defRPr>
            </a:pPr>
            <a:r>
              <a:t>Random Forest (ranger)</a:t>
            </a:r>
          </a:p>
          <a:p>
            <a:pPr>
              <a:spcAft>
                <a:spcPts val="8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Training Time: 14.58 seconds.</a:t>
            </a:r>
          </a:p>
          <a:p>
            <a:pPr>
              <a:spcAft>
                <a:spcPts val="8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Test AUC: 0.7735.</a:t>
            </a:r>
          </a:p>
          <a:p>
            <a:pPr>
              <a:spcAft>
                <a:spcPts val="8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Pros: 100 de-correlated trees voting in parallel, resistant to outlier noise.</a:t>
            </a:r>
          </a:p>
          <a:p>
            <a:pPr>
              <a:spcAft>
                <a:spcPts val="8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Cons: Slower training; conservative probabilities on extreme minority failure states.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20240"/>
            <a:ext cx="33832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0312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16A34A"/>
                </a:solidFill>
                <a:latin typeface="Segoe UI"/>
              </a:defRPr>
            </a:pPr>
            <a:r>
              <a:t>XGBoost (Champion)</a:t>
            </a:r>
          </a:p>
          <a:p>
            <a:pPr>
              <a:spcAft>
                <a:spcPts val="8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Training Time: 0.67 seconds!</a:t>
            </a:r>
          </a:p>
          <a:p>
            <a:pPr>
              <a:spcAft>
                <a:spcPts val="8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Test AUC: 0.8297 (Top score).</a:t>
            </a:r>
          </a:p>
          <a:p>
            <a:pPr>
              <a:spcAft>
                <a:spcPts val="8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RAM Usage: Only 109 MB.</a:t>
            </a:r>
          </a:p>
          <a:p>
            <a:pPr>
              <a:spcAft>
                <a:spcPts val="8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Why It Wins: Gradient boosting focuses sequentially on difficult subtle temperature drifts. Runs in sub-second speed on standard laptop CPUs.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STEP 6: SCIENTIFIC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Testing on Complete Strangers (Turbine Generalization)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>
                <a:solidFill>
                  <a:srgbClr val="475569"/>
                </a:solidFill>
                <a:latin typeface="Segoe UI"/>
              </a:defRPr>
            </a:pPr>
            <a:r>
              <a:t>Why random train/test splits lie and how Leave-One-Turbine-Out validation proves reality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2120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DC2626"/>
                </a:solidFill>
                <a:latin typeface="Segoe UI"/>
              </a:defRPr>
            </a:pPr>
            <a:r>
              <a:t>Why Standard Random Splits Lie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Turbines are like human beings: each has slight personal quirks.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Turbine #11 might naturally run 1.5°C warmer than Turbine #0 due to its position on the hill.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If you randomly shuffle 10-minute rows, the model memorizes individual turbine IDs rather than universal physics.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When installed on a brand-new turbine, models trained with random splits fail completely.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0312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16A34A"/>
                </a:solidFill>
                <a:latin typeface="Segoe UI"/>
              </a:defRPr>
            </a:pPr>
            <a:r>
              <a:t>Leave-One-Turbine-Out Proof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We completely removed turbine ID (asset_id) from all model input features.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We trained the model on Turbines 0, 10, 11, and 13, and evaluated it on a totally unseen held-out Turbine 21.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The AI was forced to learn universal laws of mechanical wear that apply to ANY machine.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PROVEN RESULT: Achieved 0.83 AUC on held-out stranger turbine, proving robust real-world generalization.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STEP 7: LEAD TIME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8 to 34 Days Notice: The CARE Earliness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>
                <a:solidFill>
                  <a:srgbClr val="475569"/>
                </a:solidFill>
                <a:latin typeface="Segoe UI"/>
              </a:defRPr>
            </a:pPr>
            <a:r>
              <a:t>Real lead times achieved before catastrophic trip across all major physical assemblies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212080" cy="20574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84832"/>
            <a:ext cx="4754880" cy="1728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284C7"/>
                </a:solidFill>
                <a:latin typeface="Segoe UI"/>
              </a:defRPr>
            </a:pPr>
            <a:r>
              <a:t>Gearbox High-Speed Shaft</a:t>
            </a:r>
          </a:p>
          <a:p>
            <a:pPr>
              <a:spcBef>
                <a:spcPts val="300"/>
              </a:spcBef>
              <a:spcAft>
                <a:spcPts val="4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14.0 to 16.6 Days Notice</a:t>
            </a:r>
          </a:p>
          <a:p>
            <a:pPr>
              <a:defRPr sz="1400">
                <a:solidFill>
                  <a:srgbClr val="1E293B"/>
                </a:solidFill>
                <a:latin typeface="Segoe UI"/>
              </a:defRPr>
            </a:pPr>
            <a:r>
              <a:t>337 to 400 hours advance warning before high-speed shaft bearing failure. Ample time to mobilize cranes and stage replacements.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20574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084832"/>
            <a:ext cx="4754880" cy="1728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6A34A"/>
                </a:solidFill>
                <a:latin typeface="Segoe UI"/>
              </a:defRPr>
            </a:pPr>
            <a:r>
              <a:t>Generator Drive-End Bearing</a:t>
            </a:r>
          </a:p>
          <a:p>
            <a:pPr>
              <a:spcBef>
                <a:spcPts val="300"/>
              </a:spcBef>
              <a:spcAft>
                <a:spcPts val="4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19.7 to 34.2 Days Notice</a:t>
            </a:r>
          </a:p>
          <a:p>
            <a:pPr>
              <a:defRPr sz="1400">
                <a:solidFill>
                  <a:srgbClr val="1E293B"/>
                </a:solidFill>
                <a:latin typeface="Segoe UI"/>
              </a:defRPr>
            </a:pPr>
            <a:r>
              <a:t>472 to 820 hours advance warning! Thermal drift detected nearly a month in advance, preventing electrical fire and generator seizure.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206240"/>
            <a:ext cx="5212080" cy="20574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370832"/>
            <a:ext cx="4754880" cy="1728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Segoe UI"/>
              </a:defRPr>
            </a:pPr>
            <a:r>
              <a:t>High-Voltage Transformer</a:t>
            </a:r>
          </a:p>
          <a:p>
            <a:pPr>
              <a:spcBef>
                <a:spcPts val="300"/>
              </a:spcBef>
              <a:spcAft>
                <a:spcPts val="4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15.9 Days Notice</a:t>
            </a:r>
          </a:p>
          <a:p>
            <a:pPr>
              <a:defRPr sz="1400">
                <a:solidFill>
                  <a:srgbClr val="1E293B"/>
                </a:solidFill>
                <a:latin typeface="Segoe UI"/>
              </a:defRPr>
            </a:pPr>
            <a:r>
              <a:t>381 hours advance warning on Phase L1 winding insulation breakdown, averting major substation flashover.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206240"/>
            <a:ext cx="5212080" cy="20574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4370832"/>
            <a:ext cx="4754880" cy="1728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D97706"/>
                </a:solidFill>
                <a:latin typeface="Segoe UI"/>
              </a:defRPr>
            </a:pPr>
            <a:r>
              <a:t>Hydraulic Pitch Group</a:t>
            </a:r>
          </a:p>
          <a:p>
            <a:pPr>
              <a:spcBef>
                <a:spcPts val="300"/>
              </a:spcBef>
              <a:spcAft>
                <a:spcPts val="4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8.0 Days Notice</a:t>
            </a:r>
          </a:p>
          <a:p>
            <a:pPr>
              <a:defRPr sz="1400">
                <a:solidFill>
                  <a:srgbClr val="1E293B"/>
                </a:solidFill>
                <a:latin typeface="Segoe UI"/>
              </a:defRPr>
            </a:pPr>
            <a:r>
              <a:t>192 hours advance warning on proportional pitch valve pressure loss, allowing safe blade feathering before catastrophic overspeed.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STEP 8: EXPLAINABLE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Opening the Black Box: Why Engineers Trust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>
                <a:solidFill>
                  <a:srgbClr val="475569"/>
                </a:solidFill>
                <a:latin typeface="Segoe UI"/>
              </a:defRPr>
            </a:pPr>
            <a:r>
              <a:t>Using SHAP &amp; LIME to prove that AI alerts point directly to the failing mechanical parts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2120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1E3A8A"/>
                </a:solidFill>
                <a:latin typeface="Segoe UI"/>
              </a:defRPr>
            </a:pPr>
            <a:r>
              <a:t>The Trust Problem: Why XAI Is Mandatory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If an AI alerts: 'Turbine 21 is at 90% Risk', the maintenance manager asks: 'Which part is broken?'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If the model cannot explain itself, engineers will ignore the alert to avoid wasting a $30,000 boat charter.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TreeSHAP: Calculates exact additive risk contributions (in Shapley points) for every sensor channel.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LIME: Generates human-readable 'if-then' diagnostic rules explaining individual alert moments.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0312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16A34A"/>
                </a:solidFill>
                <a:latin typeface="Segoe UI"/>
              </a:defRPr>
            </a:pPr>
            <a:r>
              <a:t>Physical Ground-Truth Verifications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Gearbox Failure (Ev 72): Top SHAP feature was temp_gearbox_bearing (+4.3°C rise) and oil heat. Exact match to friction physics.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Generator Bearing Failure (Ev 0): Drive-end bearing surged to 76°C, completely dominating SHAP attributions.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Transformer Surge (Ev 68): Phase L1 reached 117°C, correctly driving local alert triggers.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Healthy Turbine (Ev 25): Negative scores across all components, keeping false alarms at zero.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STEP 9: BUSINESS ROI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The Money Story: Finding the Financial Sweet Spot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>
                <a:solidFill>
                  <a:srgbClr val="475569"/>
                </a:solidFill>
                <a:latin typeface="Segoe UI"/>
              </a:defRPr>
            </a:pPr>
            <a:r>
              <a:t>Why 50% thresholding is a multi-million-dollar mistake and how cost matrices save $4.5M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2120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DC2626"/>
                </a:solidFill>
                <a:latin typeface="Segoe UI"/>
              </a:defRPr>
            </a:pPr>
            <a:r>
              <a:t>The 40:1 Asymmetric Cost Reality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Missed Failure (False Negative): $150,000 to $300,000+. Shattered gearbox, offshore vessel charter, 8 weeks lost power.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False Alarm (False Positive): $3,500. Remote log diagnostics and routine technician inspection visit.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Planned Repair (True Positive): $8,000. Uptower bearing replacement during scheduled calm weather window.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CORE REALITY: Missing a breakdown is 40 TIMES MORE EXPENSIVE than sending a technician on a false alarm!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0312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16A34A"/>
                </a:solidFill>
                <a:latin typeface="Segoe UI"/>
              </a:defRPr>
            </a:pPr>
            <a:r>
              <a:t>The 0.35 Optimal Threshold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In textbooks, models use a 0.50 cutoff. In wind energy, that lets too many catastrophic breakdowns slip through.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By optimizing total fleet costs, the ideal threshold is 0.30 - 0.35.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Expected Fleet Savings: ~$4.5 Million net savings across 36 turbines over 2-3 years.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Avoided Downtime: 6,500 hours of productive green energy generation saved.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• Estimated Return on Investment: ~200% ROI on the condition monitoring platform.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STEP 10: DECISION 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Empowering Operators: The Interactive Shiny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>
                <a:solidFill>
                  <a:srgbClr val="475569"/>
                </a:solidFill>
                <a:latin typeface="Segoe UI"/>
              </a:defRPr>
            </a:pPr>
            <a:r>
              <a:t>A complete live decision support application with real-time SCADA telemetry &amp; ROI calculus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2120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1E3A8A"/>
                </a:solidFill>
                <a:latin typeface="Segoe UI"/>
              </a:defRPr>
            </a:pPr>
            <a:r>
              <a:t>5 Operational Dashboard Tabs</a:t>
            </a:r>
          </a:p>
          <a:p>
            <a:pPr>
              <a:spcBef>
                <a:spcPts val="400"/>
              </a:spcBef>
              <a:defRPr sz="1600" b="1">
                <a:solidFill>
                  <a:srgbClr val="0284C7"/>
                </a:solidFill>
                <a:latin typeface="Segoe UI"/>
              </a:defRPr>
            </a:pPr>
            <a:r>
              <a:t>1. Fleet Overview: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Live status cards across 3 farms, turbine registry, and event logs.</a:t>
            </a:r>
          </a:p>
          <a:p>
            <a:pPr>
              <a:spcBef>
                <a:spcPts val="400"/>
              </a:spcBef>
              <a:defRPr sz="1600" b="1">
                <a:solidFill>
                  <a:srgbClr val="0284C7"/>
                </a:solidFill>
                <a:latin typeface="Segoe UI"/>
              </a:defRPr>
            </a:pPr>
            <a:r>
              <a:t>2. Telemetry Studio: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Multi-sensor time-series (Delta T, power, wind) + real-time risk.</a:t>
            </a:r>
          </a:p>
          <a:p>
            <a:pPr>
              <a:spcBef>
                <a:spcPts val="400"/>
              </a:spcBef>
              <a:defRPr sz="1600" b="1">
                <a:solidFill>
                  <a:srgbClr val="0284C7"/>
                </a:solidFill>
                <a:latin typeface="Segoe UI"/>
              </a:defRPr>
            </a:pPr>
            <a:r>
              <a:t>3. Model Benchmark: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Cross-validation audit tables, confusion matrices, and CARE lead times.</a:t>
            </a:r>
          </a:p>
          <a:p>
            <a:pPr>
              <a:spcBef>
                <a:spcPts val="400"/>
              </a:spcBef>
              <a:defRPr sz="1600" b="1">
                <a:solidFill>
                  <a:srgbClr val="0284C7"/>
                </a:solidFill>
                <a:latin typeface="Segoe UI"/>
              </a:defRPr>
            </a:pPr>
            <a:r>
              <a:t>4. Explainable AI: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Interactive SHAP waterfalls and LIME diagnostic rulebook.</a:t>
            </a:r>
          </a:p>
          <a:p>
            <a:pPr>
              <a:spcBef>
                <a:spcPts val="400"/>
              </a:spcBef>
              <a:defRPr sz="1600" b="1">
                <a:solidFill>
                  <a:srgbClr val="0284C7"/>
                </a:solidFill>
                <a:latin typeface="Segoe UI"/>
              </a:defRPr>
            </a:pPr>
            <a:r>
              <a:t>5. ROI Calculator: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Sliders for repair costs, fleet size, and interactive net dollar savings.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0312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16A34A"/>
                </a:solidFill>
                <a:latin typeface="Segoe UI"/>
              </a:defRPr>
            </a:pPr>
            <a:r>
              <a:t>Master Script Execution (main.R)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ONE-CLICK LAUNCH: The master runner handles all workflows: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Rscript main.R         (Demo + launch dashboard)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Rscript main.R --app   (Directly launch dashboard)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Rscript main.R --demo  (Terminal condition demo)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  Rscript main.R --train (Re-train ML models)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ZERO CLOUD DEPENDENCIES: Runs locally on http://127.0.0.1:3838 with instant reactive rendering.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STEP 11: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The 5-Point Presenter's Cheat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>
                <a:solidFill>
                  <a:srgbClr val="475569"/>
                </a:solidFill>
                <a:latin typeface="Segoe UI"/>
              </a:defRPr>
            </a:pPr>
            <a:r>
              <a:t>Everything you need to deliver a convincing, memorable presentation in 60 seconds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74519"/>
            <a:ext cx="10698480" cy="777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84247"/>
            <a:ext cx="10149840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Segoe UI"/>
              </a:defRPr>
            </a:pPr>
            <a:r>
              <a:t>1. Real Physics, Not Fake Data  —  </a:t>
            </a:r>
            <a:r>
              <a:rPr sz="1600" b="0">
                <a:solidFill>
                  <a:srgbClr val="1E293B"/>
                </a:solidFill>
                <a:latin typeface="Segoe UI"/>
              </a:rPr>
              <a:t>Rejected synthetic SMOTE and purged post-trip status codes; 100% genuine sensor telemetry.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07207"/>
            <a:ext cx="10698480" cy="777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916935"/>
            <a:ext cx="10149840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Segoe UI"/>
              </a:defRPr>
            </a:pPr>
            <a:r>
              <a:t>2. The 'Rising Fever' Method  —  </a:t>
            </a:r>
            <a:r>
              <a:rPr sz="1600" b="0">
                <a:solidFill>
                  <a:srgbClr val="1E293B"/>
                </a:solidFill>
                <a:latin typeface="Segoe UI"/>
              </a:rPr>
              <a:t>Differential temperatures (Delta T) subtracted weather fluctuations and exposed true mechanical friction.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39895"/>
            <a:ext cx="10698480" cy="777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849623"/>
            <a:ext cx="10149840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Segoe UI"/>
              </a:defRPr>
            </a:pPr>
            <a:r>
              <a:t>3. Sub-Second Speed  —  </a:t>
            </a:r>
            <a:r>
              <a:rPr sz="1600" b="0">
                <a:solidFill>
                  <a:srgbClr val="1E293B"/>
                </a:solidFill>
                <a:latin typeface="Segoe UI"/>
              </a:rPr>
              <a:t>XGBoost trains in 0.67 seconds on 100k rows (109 MB RAM), reaching 0.83 AUC on completely unseen turbines.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672583"/>
            <a:ext cx="10698480" cy="777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782311"/>
            <a:ext cx="10149840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Segoe UI"/>
              </a:defRPr>
            </a:pPr>
            <a:r>
              <a:t>4. 8 to 34 Days Lead Time  —  </a:t>
            </a:r>
            <a:r>
              <a:rPr sz="1600" b="0">
                <a:solidFill>
                  <a:srgbClr val="1E293B"/>
                </a:solidFill>
                <a:latin typeface="Segoe UI"/>
              </a:rPr>
              <a:t>Achieved multi-week early warning across gearboxes, generator bearings, transformers, and hydraulics.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605271"/>
            <a:ext cx="10698480" cy="777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14999"/>
            <a:ext cx="10149840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Segoe UI"/>
              </a:defRPr>
            </a:pPr>
            <a:r>
              <a:t>5. Explainable &amp; Actionable  —  </a:t>
            </a:r>
            <a:r>
              <a:rPr sz="1600" b="0">
                <a:solidFill>
                  <a:srgbClr val="1E293B"/>
                </a:solidFill>
                <a:latin typeface="Segoe UI"/>
              </a:rPr>
              <a:t>SHAP and LIME prove alerts match physical components; Shiny dashboard empowers operators with ROI calculators.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