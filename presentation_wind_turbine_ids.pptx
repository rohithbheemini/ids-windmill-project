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 b="1">
                <a:solidFill>
                  <a:srgbClr val="0284C7"/>
                </a:solidFill>
              </a:defRPr>
            </a:pPr>
            <a:r>
              <a:t>WIND TURBINE CONDITION MONITORING</a:t>
            </a:r>
          </a:p>
          <a:p>
            <a:pPr>
              <a:defRPr sz="4600" b="1">
                <a:solidFill>
                  <a:srgbClr val="0F172A"/>
                </a:solidFill>
              </a:defRPr>
            </a:pPr>
            <a:r>
              <a:t>Saving Millions in the Wind</a:t>
            </a:r>
          </a:p>
          <a:p>
            <a:pPr>
              <a:spcBef>
                <a:spcPts val="1200"/>
              </a:spcBef>
              <a:spcAft>
                <a:spcPts val="2800"/>
              </a:spcAft>
              <a:defRPr sz="2200">
                <a:solidFill>
                  <a:srgbClr val="475569"/>
                </a:solidFill>
              </a:defRPr>
            </a:pPr>
            <a:r>
              <a:t>How Physics, Machine Learning &amp; Explainable AI Spot Failures Weeks in Advance</a:t>
            </a:r>
          </a:p>
          <a:p>
            <a:pPr>
              <a:defRPr sz="1600" b="1">
                <a:solidFill>
                  <a:srgbClr val="1E3A8A"/>
                </a:solidFill>
              </a:defRPr>
            </a:pPr>
            <a:r>
              <a:t>A Simplified Case Study: Foundations, Realized Approaches &amp; Alternative Paths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OPERATIONAL REALITY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0F172A"/>
                </a:solidFill>
              </a:defRPr>
            </a:pPr>
            <a:r>
              <a:t>The High Stakes of Wind Turbine Breakdowns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>
                <a:solidFill>
                  <a:srgbClr val="475569"/>
                </a:solidFill>
              </a:defRPr>
            </a:pPr>
            <a:r>
              <a:t>Why traditional reactive maintenance fails catastrophically at sea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28416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296265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1E3A8A"/>
                </a:solidFill>
              </a:defRPr>
            </a:pPr>
            <a:r>
              <a:t>The Machine</a:t>
            </a:r>
          </a:p>
          <a:p>
            <a:pPr>
              <a:spcAft>
                <a:spcPts val="1000"/>
              </a:spcAft>
              <a:defRPr sz="1600">
                <a:solidFill>
                  <a:srgbClr val="0F172A"/>
                </a:solidFill>
              </a:defRPr>
            </a:pPr>
            <a:r>
              <a:t>• Turbines are 300-ft tall robotic power plants with 80-meter blades.</a:t>
            </a:r>
          </a:p>
          <a:p>
            <a:pPr>
              <a:spcAft>
                <a:spcPts val="1000"/>
              </a:spcAft>
              <a:defRPr sz="1600">
                <a:solidFill>
                  <a:srgbClr val="0F172A"/>
                </a:solidFill>
              </a:defRPr>
            </a:pPr>
            <a:r>
              <a:t>• Internal components operate under titanic mechanical torque &amp; cyclic stress.</a:t>
            </a:r>
          </a:p>
          <a:p>
            <a:pPr>
              <a:spcAft>
                <a:spcPts val="1000"/>
              </a:spcAft>
              <a:defRPr sz="1600">
                <a:solidFill>
                  <a:srgbClr val="0F172A"/>
                </a:solidFill>
              </a:defRPr>
            </a:pPr>
            <a:r>
              <a:t>• A 20-ton gearbox steps up rotor speed from 15 RPM to 1,500 RPM for the generator.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920240"/>
            <a:ext cx="3328416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2103120"/>
            <a:ext cx="296265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DC2626"/>
                </a:solidFill>
              </a:defRPr>
            </a:pPr>
            <a:r>
              <a:t>The Catastrophe</a:t>
            </a:r>
          </a:p>
          <a:p>
            <a:pPr>
              <a:spcAft>
                <a:spcPts val="1000"/>
              </a:spcAft>
              <a:defRPr sz="1600">
                <a:solidFill>
                  <a:srgbClr val="0F172A"/>
                </a:solidFill>
              </a:defRPr>
            </a:pPr>
            <a:r>
              <a:t>• Offshore crane ships cost $30,000+ per day just to mobilize.</a:t>
            </a:r>
          </a:p>
          <a:p>
            <a:pPr>
              <a:spcAft>
                <a:spcPts val="1000"/>
              </a:spcAft>
              <a:defRPr sz="1600">
                <a:solidFill>
                  <a:srgbClr val="0F172A"/>
                </a:solidFill>
              </a:defRPr>
            </a:pPr>
            <a:r>
              <a:t>• Replacing shattered gearboxes costs $150,000 to $250,000+ in parts.</a:t>
            </a:r>
          </a:p>
          <a:p>
            <a:pPr>
              <a:spcAft>
                <a:spcPts val="1000"/>
              </a:spcAft>
              <a:defRPr sz="1600">
                <a:solidFill>
                  <a:srgbClr val="0F172A"/>
                </a:solidFill>
              </a:defRPr>
            </a:pPr>
            <a:r>
              <a:t>• Rough winter seas can delay repairs for 6 to 8 weeks, losing hundreds of thousands in green power.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1920240"/>
            <a:ext cx="3328416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2" y="2103120"/>
            <a:ext cx="296265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16A34A"/>
                </a:solidFill>
              </a:defRPr>
            </a:pPr>
            <a:r>
              <a:t>The Goal</a:t>
            </a:r>
          </a:p>
          <a:p>
            <a:pPr>
              <a:spcAft>
                <a:spcPts val="1000"/>
              </a:spcAft>
              <a:defRPr sz="1600">
                <a:solidFill>
                  <a:srgbClr val="0F172A"/>
                </a:solidFill>
              </a:defRPr>
            </a:pPr>
            <a:r>
              <a:t>• Spot component degradation 2 to 4 weeks before catastrophic failure.</a:t>
            </a:r>
          </a:p>
          <a:p>
            <a:pPr>
              <a:spcAft>
                <a:spcPts val="1000"/>
              </a:spcAft>
              <a:defRPr sz="1600">
                <a:solidFill>
                  <a:srgbClr val="0F172A"/>
                </a:solidFill>
              </a:defRPr>
            </a:pPr>
            <a:r>
              <a:t>• Use existing SCADA temperature and speed sensors without new hardware.</a:t>
            </a:r>
          </a:p>
          <a:p>
            <a:pPr>
              <a:spcAft>
                <a:spcPts val="1000"/>
              </a:spcAft>
              <a:defRPr sz="1600">
                <a:solidFill>
                  <a:srgbClr val="0F172A"/>
                </a:solidFill>
              </a:defRPr>
            </a:pPr>
            <a:r>
              <a:t>• Avoid false alarm fatigue so technicians genuinely trust the alerts.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DATASET ANATOMY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0F172A"/>
                </a:solidFill>
              </a:defRPr>
            </a:pPr>
            <a:r>
              <a:t>Understanding the Benchmark (CARE_To_Compare)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>
                <a:solidFill>
                  <a:srgbClr val="475569"/>
                </a:solidFill>
              </a:defRPr>
            </a:pPr>
            <a:r>
              <a:t>89 years of real-world operational SCADA telemetry across 36 wind turbines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175504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4626864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 b="1">
                <a:solidFill>
                  <a:srgbClr val="1E3A8A"/>
                </a:solidFill>
              </a:defRPr>
            </a:pPr>
            <a:r>
              <a:t>The Multi-Farm Architecture</a:t>
            </a:r>
          </a:p>
          <a:p>
            <a:pPr>
              <a:spcBef>
                <a:spcPts val="600"/>
              </a:spcBef>
              <a:defRPr sz="1600" b="1">
                <a:solidFill>
                  <a:srgbClr val="0284C7"/>
                </a:solidFill>
              </a:defRPr>
            </a:pPr>
            <a:r>
              <a:t>Wind Farm A (Portugal, Onshore):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5 turbines, 22 datasets, 86 sensor channels. Transparent component breakdown from EDP Open Data.</a:t>
            </a:r>
          </a:p>
          <a:p>
            <a:pPr>
              <a:spcBef>
                <a:spcPts val="600"/>
              </a:spcBef>
              <a:defRPr sz="1600" b="1">
                <a:solidFill>
                  <a:srgbClr val="0284C7"/>
                </a:solidFill>
              </a:defRPr>
            </a:pPr>
            <a:r>
              <a:t>Wind Farm B (Germany, Offshore):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15 datasets, 257 sensor channels. Severe marine environment, rotor bearing &amp; transformer cell issues.</a:t>
            </a:r>
          </a:p>
          <a:p>
            <a:pPr>
              <a:spcBef>
                <a:spcPts val="600"/>
              </a:spcBef>
              <a:defRPr sz="1600" b="1">
                <a:solidFill>
                  <a:srgbClr val="0284C7"/>
                </a:solidFill>
              </a:defRPr>
            </a:pPr>
            <a:r>
              <a:t>Wind Farm C (Germany, Offshore):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58 datasets, 957 sensor channels. Deep telemetry (pitch motors, converter IGBTs, blade heaters).</a:t>
            </a:r>
          </a:p>
          <a:p>
            <a:pPr>
              <a:spcBef>
                <a:spcPts val="600"/>
              </a:spcBef>
              <a:defRPr sz="1600" b="1">
                <a:solidFill>
                  <a:srgbClr val="0284C7"/>
                </a:solidFill>
              </a:defRPr>
            </a:pPr>
            <a:r>
              <a:t>10-Minute Averaging (IEC 61400-25):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Raw milliseconds are aggregated into 10-minute average, min, max, and std deviation.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1920240"/>
            <a:ext cx="5175504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47104" y="2194560"/>
            <a:ext cx="4626864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 b="1">
                <a:solidFill>
                  <a:srgbClr val="1E3A8A"/>
                </a:solidFill>
              </a:defRPr>
            </a:pPr>
            <a:r>
              <a:t>Structure of Each Monitored Event</a:t>
            </a:r>
          </a:p>
          <a:p>
            <a:pPr>
              <a:spcBef>
                <a:spcPts val="600"/>
              </a:spcBef>
              <a:defRPr sz="1600" b="1">
                <a:solidFill>
                  <a:srgbClr val="16A34A"/>
                </a:solidFill>
              </a:defRPr>
            </a:pPr>
            <a:r>
              <a:t>Historical Baseline (train):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Exactly 1 full year (~52,000 observations) of normal healthy historical operation for that specific turbine.</a:t>
            </a:r>
          </a:p>
          <a:p>
            <a:pPr>
              <a:spcBef>
                <a:spcPts val="600"/>
              </a:spcBef>
              <a:defRPr sz="1600" b="1">
                <a:solidFill>
                  <a:srgbClr val="16A34A"/>
                </a:solidFill>
              </a:defRPr>
            </a:pPr>
            <a:r>
              <a:t>Evaluation Window (prediction):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The subsequent 2 to 4 weeks. In anomaly datasets, degradation worsens leading to failure; in normal datasets, turbine keeps running.</a:t>
            </a:r>
          </a:p>
          <a:p>
            <a:pPr>
              <a:spcBef>
                <a:spcPts val="600"/>
              </a:spcBef>
              <a:defRPr sz="1600" b="1">
                <a:solidFill>
                  <a:srgbClr val="16A34A"/>
                </a:solidFill>
              </a:defRPr>
            </a:pPr>
            <a:r>
              <a:t>Component Failure Modes: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Ground-truth failure logs catalog Gearbox breakdowns, Generator bearing wear, Transformer surges, and Hydraulic valve failures.</a:t>
            </a:r>
          </a:p>
          <a:p>
            <a:pPr>
              <a:spcBef>
                <a:spcPts val="600"/>
              </a:spcBef>
              <a:defRPr sz="1600" b="1">
                <a:solidFill>
                  <a:srgbClr val="16A34A"/>
                </a:solidFill>
              </a:defRPr>
            </a:pPr>
            <a:r>
              <a:t>Balanced Benchmark: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44 labeled anomaly failure cases vs. 51 healthy normal control cases across the full repository.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THEORETICAL CHALLENGE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0F172A"/>
                </a:solidFill>
              </a:defRPr>
            </a:pPr>
            <a:r>
              <a:t>The 'Status Code' Trap (Data Leakage)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>
                <a:solidFill>
                  <a:srgbClr val="475569"/>
                </a:solidFill>
              </a:defRPr>
            </a:pPr>
            <a:r>
              <a:t>Why a naive machine learning model achieves 99.9% accuracy but fails in operations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175504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4626864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DC2626"/>
                </a:solidFill>
              </a:defRPr>
            </a:pPr>
            <a:r>
              <a:t>The Naive Shortcut (The Cheat)</a:t>
            </a:r>
          </a:p>
          <a:p>
            <a:pPr>
              <a:spcAft>
                <a:spcPts val="1000"/>
              </a:spcAft>
              <a:defRPr sz="1600">
                <a:solidFill>
                  <a:srgbClr val="0F172A"/>
                </a:solidFill>
              </a:defRPr>
            </a:pPr>
            <a:r>
              <a:t>• In raw SCADA files, 'status_type_id' records turbine states: 0 = Normal, 3 = Service, 4 = Downtime.</a:t>
            </a:r>
          </a:p>
          <a:p>
            <a:pPr>
              <a:spcAft>
                <a:spcPts val="1000"/>
              </a:spcAft>
              <a:defRPr sz="1600">
                <a:solidFill>
                  <a:srgbClr val="0F172A"/>
                </a:solidFill>
              </a:defRPr>
            </a:pPr>
            <a:r>
              <a:t>• When an anomaly dataset reaches breakdown, the status flips to 4 (Turbine is halted).</a:t>
            </a:r>
          </a:p>
          <a:p>
            <a:pPr>
              <a:spcAft>
                <a:spcPts val="1000"/>
              </a:spcAft>
              <a:defRPr sz="1600">
                <a:solidFill>
                  <a:srgbClr val="0F172A"/>
                </a:solidFill>
              </a:defRPr>
            </a:pPr>
            <a:r>
              <a:t>• A standard AI automatically latches onto status_type_id == 4 and claims 99.9% accuracy.</a:t>
            </a:r>
          </a:p>
          <a:p>
            <a:pPr>
              <a:spcAft>
                <a:spcPts val="1000"/>
              </a:spcAft>
              <a:defRPr sz="1600">
                <a:solidFill>
                  <a:srgbClr val="0F172A"/>
                </a:solidFill>
              </a:defRPr>
            </a:pPr>
            <a:r>
              <a:t>• WHY THIS IS USELESS: The wind farm already knows the turbine is down when it trips! Predicting downtime after the machine stops spinning has zero business value.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1920240"/>
            <a:ext cx="5175504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47104" y="2194560"/>
            <a:ext cx="4626864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16A34A"/>
                </a:solidFill>
              </a:defRPr>
            </a:pPr>
            <a:r>
              <a:t>How We Resolved It (True Physics)</a:t>
            </a:r>
          </a:p>
          <a:p>
            <a:pPr>
              <a:spcAft>
                <a:spcPts val="1000"/>
              </a:spcAft>
              <a:defRPr sz="1600">
                <a:solidFill>
                  <a:srgbClr val="0F172A"/>
                </a:solidFill>
              </a:defRPr>
            </a:pPr>
            <a:r>
              <a:t>• We strictly erased status_type_id from all predictive features.</a:t>
            </a:r>
          </a:p>
          <a:p>
            <a:pPr>
              <a:spcAft>
                <a:spcPts val="1000"/>
              </a:spcAft>
              <a:defRPr sz="1600">
                <a:solidFill>
                  <a:srgbClr val="0F172A"/>
                </a:solidFill>
              </a:defRPr>
            </a:pPr>
            <a:r>
              <a:t>• The model must learn failure signatures exclusively from thermodynamic temperatures, vibrations, and aerodynamics.</a:t>
            </a:r>
          </a:p>
          <a:p>
            <a:pPr>
              <a:spcAft>
                <a:spcPts val="1000"/>
              </a:spcAft>
              <a:defRPr sz="1600">
                <a:solidFill>
                  <a:srgbClr val="0F172A"/>
                </a:solidFill>
              </a:defRPr>
            </a:pPr>
            <a:r>
              <a:t>• The entire prediction period is evaluated to detect early degradation while status is STILL 0 (Normal operation).</a:t>
            </a:r>
          </a:p>
          <a:p>
            <a:pPr>
              <a:spcAft>
                <a:spcPts val="1000"/>
              </a:spcAft>
              <a:defRPr sz="1600">
                <a:solidFill>
                  <a:srgbClr val="0F172A"/>
                </a:solidFill>
              </a:defRPr>
            </a:pPr>
            <a:r>
              <a:t>• OPERATIONAL OUTCOME: The model provides genuine early warning days before the emergency control system ever trips.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THEORETICAL CHALLENGE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0F172A"/>
                </a:solidFill>
              </a:defRPr>
            </a:pPr>
            <a:r>
              <a:t>The Weather Trap &amp; The 'Rising Fever' Fix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>
                <a:solidFill>
                  <a:srgbClr val="475569"/>
                </a:solidFill>
              </a:defRPr>
            </a:pPr>
            <a:r>
              <a:t>Is the bearing overheating, or is it just a sunny afternoon in July?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175504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4626864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D97706"/>
                </a:solidFill>
              </a:defRPr>
            </a:pPr>
            <a:r>
              <a:t>The Weather Confounding Problem</a:t>
            </a:r>
          </a:p>
          <a:p>
            <a:pPr>
              <a:spcAft>
                <a:spcPts val="1000"/>
              </a:spcAft>
              <a:defRPr sz="1600">
                <a:solidFill>
                  <a:srgbClr val="0F172A"/>
                </a:solidFill>
              </a:defRPr>
            </a:pPr>
            <a:r>
              <a:t>• A healthy gearbox bearing naturally runs at 60°C on a hot 38°C summer afternoon.</a:t>
            </a:r>
          </a:p>
          <a:p>
            <a:pPr>
              <a:spcAft>
                <a:spcPts val="1000"/>
              </a:spcAft>
              <a:defRPr sz="1600">
                <a:solidFill>
                  <a:srgbClr val="0F172A"/>
                </a:solidFill>
              </a:defRPr>
            </a:pPr>
            <a:r>
              <a:t>• A dying gearbox bearing might only reach 45°C on a freezing 2°C winter morning.</a:t>
            </a:r>
          </a:p>
          <a:p>
            <a:pPr>
              <a:spcAft>
                <a:spcPts val="1000"/>
              </a:spcAft>
              <a:defRPr sz="1600">
                <a:solidFill>
                  <a:srgbClr val="0F172A"/>
                </a:solidFill>
              </a:defRPr>
            </a:pPr>
            <a:r>
              <a:t>• If you feed raw temperatures to an AI, it classifies summer as an anomaly and misses winter failures!</a:t>
            </a:r>
          </a:p>
          <a:p>
            <a:pPr>
              <a:spcAft>
                <a:spcPts val="1000"/>
              </a:spcAft>
              <a:defRPr sz="1600">
                <a:solidFill>
                  <a:srgbClr val="0F172A"/>
                </a:solidFill>
              </a:defRPr>
            </a:pPr>
            <a:r>
              <a:t>• THE SCIENTIFIC CHALLENGE: How do we isolate genuine internal mechanical friction from external weather?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1920240"/>
            <a:ext cx="5175504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47104" y="2194560"/>
            <a:ext cx="4626864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0284C7"/>
                </a:solidFill>
              </a:defRPr>
            </a:pPr>
            <a:r>
              <a:t>The Thermodynamic Solution (ΔT)</a:t>
            </a:r>
          </a:p>
          <a:p>
            <a:pPr>
              <a:spcAft>
                <a:spcPts val="1000"/>
              </a:spcAft>
              <a:defRPr sz="1600">
                <a:solidFill>
                  <a:srgbClr val="0F172A"/>
                </a:solidFill>
              </a:defRPr>
            </a:pPr>
            <a:r>
              <a:t>• Just like a doctor checks fever above normal room temperature, we engineered Differential Temperatures:</a:t>
            </a:r>
          </a:p>
          <a:p>
            <a:pPr>
              <a:spcAft>
                <a:spcPts val="1000"/>
              </a:spcAft>
              <a:defRPr sz="1600">
                <a:solidFill>
                  <a:srgbClr val="0F172A"/>
                </a:solidFill>
              </a:defRPr>
            </a:pPr>
            <a:r>
              <a:t>• ΔT = Component Temperature − Outside Ambient Temperature</a:t>
            </a:r>
          </a:p>
          <a:p>
            <a:pPr>
              <a:spcAft>
                <a:spcPts val="1000"/>
              </a:spcAft>
              <a:defRPr sz="1600">
                <a:solidFill>
                  <a:srgbClr val="0F172A"/>
                </a:solidFill>
              </a:defRPr>
            </a:pPr>
            <a:r>
              <a:t>• Subtracting ambient weather eliminates summer/winter bias and directly exposes bearing friction.</a:t>
            </a:r>
          </a:p>
          <a:p>
            <a:pPr>
              <a:spcAft>
                <a:spcPts val="1000"/>
              </a:spcAft>
              <a:defRPr sz="1600">
                <a:solidFill>
                  <a:srgbClr val="0F172A"/>
                </a:solidFill>
              </a:defRPr>
            </a:pPr>
            <a:r>
              <a:t>• Added Causal 6-Hour Moving Averages (RollMean 6h) to track sustained heat accumulation without future data leakage.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THEORETICAL CHALLENGE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0F172A"/>
                </a:solidFill>
              </a:defRPr>
            </a:pPr>
            <a:r>
              <a:t>Generalizing to Unseen Strangers (Turbines)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>
                <a:solidFill>
                  <a:srgbClr val="475569"/>
                </a:solidFill>
              </a:defRPr>
            </a:pPr>
            <a:r>
              <a:t>Why random train/test splits lie, and how Leave-One-Turbine-Out validation proves reality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175504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4626864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DC2626"/>
                </a:solidFill>
              </a:defRPr>
            </a:pPr>
            <a:r>
              <a:t>The Flaw of Random Splitting</a:t>
            </a:r>
          </a:p>
          <a:p>
            <a:pPr>
              <a:spcAft>
                <a:spcPts val="1000"/>
              </a:spcAft>
              <a:defRPr sz="1600">
                <a:solidFill>
                  <a:srgbClr val="0F172A"/>
                </a:solidFill>
              </a:defRPr>
            </a:pPr>
            <a:r>
              <a:t>• Turbines are like human beings: each has slight individual baselines.</a:t>
            </a:r>
          </a:p>
          <a:p>
            <a:pPr>
              <a:spcAft>
                <a:spcPts val="1000"/>
              </a:spcAft>
              <a:defRPr sz="1600">
                <a:solidFill>
                  <a:srgbClr val="0F172A"/>
                </a:solidFill>
              </a:defRPr>
            </a:pPr>
            <a:r>
              <a:t>• Turbine #11 might naturally run 1.5°C warmer than Turbine #0 due to its position on a ridge.</a:t>
            </a:r>
          </a:p>
          <a:p>
            <a:pPr>
              <a:spcAft>
                <a:spcPts val="1000"/>
              </a:spcAft>
              <a:defRPr sz="1600">
                <a:solidFill>
                  <a:srgbClr val="0F172A"/>
                </a:solidFill>
              </a:defRPr>
            </a:pPr>
            <a:r>
              <a:t>• If you randomly shuffle 10-minute records, the AI simply memorizes individual turbine IDs rather than universal physics.</a:t>
            </a:r>
          </a:p>
          <a:p>
            <a:pPr>
              <a:spcAft>
                <a:spcPts val="1000"/>
              </a:spcAft>
              <a:defRPr sz="1600">
                <a:solidFill>
                  <a:srgbClr val="0F172A"/>
                </a:solidFill>
              </a:defRPr>
            </a:pPr>
            <a:r>
              <a:t>• When deployed on a newly installed turbine, such models fail completely.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1920240"/>
            <a:ext cx="5175504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47104" y="2194560"/>
            <a:ext cx="4626864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16A34A"/>
                </a:solidFill>
              </a:defRPr>
            </a:pPr>
            <a:r>
              <a:t>Leave-One-Turbine-Out Validation</a:t>
            </a:r>
          </a:p>
          <a:p>
            <a:pPr>
              <a:spcAft>
                <a:spcPts val="1000"/>
              </a:spcAft>
              <a:defRPr sz="1600">
                <a:solidFill>
                  <a:srgbClr val="0F172A"/>
                </a:solidFill>
              </a:defRPr>
            </a:pPr>
            <a:r>
              <a:t>• We erased turbine ID (asset_id) from all model input features.</a:t>
            </a:r>
          </a:p>
          <a:p>
            <a:pPr>
              <a:spcAft>
                <a:spcPts val="1000"/>
              </a:spcAft>
              <a:defRPr sz="1600">
                <a:solidFill>
                  <a:srgbClr val="0F172A"/>
                </a:solidFill>
              </a:defRPr>
            </a:pPr>
            <a:r>
              <a:t>• Enforced Leave-One-Turbine-Out Group Cross-Validation: Train on Turbines 0, 10, 11, 13 and evaluate on held-out Turbine 21.</a:t>
            </a:r>
          </a:p>
          <a:p>
            <a:pPr>
              <a:spcAft>
                <a:spcPts val="1000"/>
              </a:spcAft>
              <a:defRPr sz="1600">
                <a:solidFill>
                  <a:srgbClr val="0F172A"/>
                </a:solidFill>
              </a:defRPr>
            </a:pPr>
            <a:r>
              <a:t>• The model is forced to learn universal physical wear signatures that apply to ANY turbine.</a:t>
            </a:r>
          </a:p>
          <a:p>
            <a:pPr>
              <a:spcAft>
                <a:spcPts val="1000"/>
              </a:spcAft>
              <a:defRPr sz="1600">
                <a:solidFill>
                  <a:srgbClr val="0F172A"/>
                </a:solidFill>
              </a:defRPr>
            </a:pPr>
            <a:r>
              <a:t>• PROVEN RESULT: Achieved 0.83 Test AUC on completely unseen turbines in held-out validation.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SOLUTION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0F172A"/>
                </a:solidFill>
              </a:defRPr>
            </a:pPr>
            <a:r>
              <a:t>How We Built the Production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>
                <a:solidFill>
                  <a:srgbClr val="475569"/>
                </a:solidFill>
              </a:defRPr>
            </a:pPr>
            <a:r>
              <a:t>A streamlined, high-speed pipeline combining physics, ensembles, and explainability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2487168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2121408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1">
                <a:solidFill>
                  <a:srgbClr val="1E3A8A"/>
                </a:solidFill>
              </a:defRPr>
            </a:pPr>
            <a:r>
              <a:t>1. Data Hygiene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t>• Parsed semicolon delimiters.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t>• Audited 102M data points.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t>• Sparse NAs (&lt;0.00004%) forward-filled with locf.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t>• Zero artificial values (no SMOTE).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1920240"/>
            <a:ext cx="2487168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39312" y="2103120"/>
            <a:ext cx="2121408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1">
                <a:solidFill>
                  <a:srgbClr val="0284C7"/>
                </a:solidFill>
              </a:defRPr>
            </a:pPr>
            <a:r>
              <a:t>2. Physics Features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t>• Delta T differentials for Gearbox, Generator, Transformer.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t>• Causal 6h rolling averages.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t>• Gear ratio (Gen RPM / Rotor RPM).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t>• Cp power conversion proxy.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920240"/>
            <a:ext cx="2487168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4224" y="2103120"/>
            <a:ext cx="2121408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1">
                <a:solidFill>
                  <a:srgbClr val="16A34A"/>
                </a:solidFill>
              </a:defRPr>
            </a:pPr>
            <a:r>
              <a:t>3. High-Speed Models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t>• Benchmarked GLM, Random Forest, and XGBoost.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t>• Sub-second training (&lt;1 sec).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t>• Compact memory footprint (109 MB RAM).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t>• Group CV across turbines.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06256" y="1920240"/>
            <a:ext cx="2487168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89136" y="2103120"/>
            <a:ext cx="2121408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1">
                <a:solidFill>
                  <a:srgbClr val="D97706"/>
                </a:solidFill>
              </a:defRPr>
            </a:pPr>
            <a:r>
              <a:t>4. Explainability &amp; UI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t>• Exact TreeSHAP attributions.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t>• LIME local decision rules.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t>• Physical consistency verification.</a:t>
            </a:r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</a:defRPr>
            </a:pPr>
            <a:r>
              <a:t>• Production Shiny dashboard.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ALTERNATIVE APPROACHES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0F172A"/>
                </a:solidFill>
              </a:defRPr>
            </a:pPr>
            <a:r>
              <a:t>What Other Approaches Could We Consider?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>
                <a:solidFill>
                  <a:srgbClr val="475569"/>
                </a:solidFill>
              </a:defRPr>
            </a:pPr>
            <a:r>
              <a:t>Evaluating deep learning, autoencoders, vibration FFTs, and synthetic sampling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175504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471830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1E3A8A"/>
                </a:solidFill>
              </a:defRPr>
            </a:pPr>
            <a:r>
              <a:t>Approach A: Deep Time-Series (LSTM / GRU / Transformers)</a:t>
            </a:r>
          </a:p>
          <a:p>
            <a:pPr>
              <a:defRPr sz="1500">
                <a:solidFill>
                  <a:srgbClr val="0F172A"/>
                </a:solidFill>
              </a:defRPr>
            </a:pPr>
            <a:r>
              <a:t>Recurrent or attention networks modeling long sequential dependencies directly from raw time-steps.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1920240"/>
            <a:ext cx="5175504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01384" y="2103120"/>
            <a:ext cx="471830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0284C7"/>
                </a:solidFill>
              </a:defRPr>
            </a:pPr>
            <a:r>
              <a:t>Approach B: Unsupervised Autoencoders (Normal Behavior Modeling)</a:t>
            </a:r>
          </a:p>
          <a:p>
            <a:pPr>
              <a:defRPr sz="1500">
                <a:solidFill>
                  <a:srgbClr val="0F172A"/>
                </a:solidFill>
              </a:defRPr>
            </a:pPr>
            <a:r>
              <a:t>Neural networks trained only on healthy data to predict expected values; high reconstruction error signals fault.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60520"/>
            <a:ext cx="5175504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343400"/>
            <a:ext cx="471830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D97706"/>
                </a:solidFill>
              </a:defRPr>
            </a:pPr>
            <a:r>
              <a:t>Approach C: Classical Vibration Signal Processing (FFT / Envelope)</a:t>
            </a:r>
          </a:p>
          <a:p>
            <a:pPr>
              <a:defRPr sz="1500">
                <a:solidFill>
                  <a:srgbClr val="0F172A"/>
                </a:solidFill>
              </a:defRPr>
            </a:pPr>
            <a:r>
              <a:t>Fourier transforms and spectral analysis on high-frequency (kHz) accelerometers placed on bearing housings.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2784" y="4160520"/>
            <a:ext cx="5175504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1384" y="4343400"/>
            <a:ext cx="471830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DC2626"/>
                </a:solidFill>
              </a:defRPr>
            </a:pPr>
            <a:r>
              <a:t>Approach D: Synthetic Minority Oversampling (SMOTE / GANs)</a:t>
            </a:r>
          </a:p>
          <a:p>
            <a:pPr>
              <a:defRPr sz="1500">
                <a:solidFill>
                  <a:srgbClr val="0F172A"/>
                </a:solidFill>
              </a:defRPr>
            </a:pPr>
            <a:r>
              <a:t>Algorithmic generation of artificial failure samples to balance positive and negative class ratios.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CRITICAL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0F172A"/>
                </a:solidFill>
              </a:defRPr>
            </a:pPr>
            <a:r>
              <a:t>Why We Didn't Choose Them &amp; What Is Future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>
                <a:solidFill>
                  <a:srgbClr val="475569"/>
                </a:solidFill>
              </a:defRPr>
            </a:pPr>
            <a:r>
              <a:t>Clear justification of design trade-offs: what was rejected vs. what is a valuable future upgrade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175504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4626864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DC2626"/>
                </a:solidFill>
              </a:defRPr>
            </a:pPr>
            <a:r>
              <a:t>Rejected / Not Recommended</a:t>
            </a:r>
          </a:p>
          <a:p>
            <a:pPr>
              <a:spcBef>
                <a:spcPts val="400"/>
              </a:spcBef>
              <a:defRPr sz="1600" b="1">
                <a:solidFill>
                  <a:srgbClr val="0F172A"/>
                </a:solidFill>
              </a:defRPr>
            </a:pPr>
            <a:r>
              <a:t>Synthetic Data (SMOTE/GANs): REJECTED</a:t>
            </a:r>
          </a:p>
          <a:p>
            <a:pPr>
              <a:spcAft>
                <a:spcPts val="800"/>
              </a:spcAft>
              <a:defRPr sz="1400">
                <a:solidFill>
                  <a:srgbClr val="475569"/>
                </a:solidFill>
              </a:defRPr>
            </a:pPr>
            <a:r>
              <a:t>Fabricates physically impossible operating states (e.g., power at zero wind). Ruled out to preserve physical validity.</a:t>
            </a:r>
          </a:p>
          <a:p>
            <a:pPr>
              <a:spcBef>
                <a:spcPts val="400"/>
              </a:spcBef>
              <a:defRPr sz="1600" b="1">
                <a:solidFill>
                  <a:srgbClr val="0F172A"/>
                </a:solidFill>
              </a:defRPr>
            </a:pPr>
            <a:r>
              <a:t>Unsupervised Clustering (K-Means/PCA): NOT WORTH IT</a:t>
            </a:r>
          </a:p>
          <a:p>
            <a:pPr>
              <a:spcAft>
                <a:spcPts val="800"/>
              </a:spcAft>
              <a:defRPr sz="1400">
                <a:solidFill>
                  <a:srgbClr val="475569"/>
                </a:solidFill>
              </a:defRPr>
            </a:pPr>
            <a:r>
              <a:t>Produced intolerable false alarm rates on offshore weather outliers. Simple clustering lacks temporal context.</a:t>
            </a:r>
          </a:p>
          <a:p>
            <a:pPr>
              <a:spcBef>
                <a:spcPts val="400"/>
              </a:spcBef>
              <a:defRPr sz="1600" b="1">
                <a:solidFill>
                  <a:srgbClr val="0F172A"/>
                </a:solidFill>
              </a:defRPr>
            </a:pPr>
            <a:r>
              <a:t>End-to-End Deep Learning for 10-Min SCADA: REJECTED</a:t>
            </a:r>
          </a:p>
          <a:p>
            <a:pPr>
              <a:spcAft>
                <a:spcPts val="800"/>
              </a:spcAft>
              <a:defRPr sz="1400">
                <a:solidFill>
                  <a:srgbClr val="475569"/>
                </a:solidFill>
              </a:defRPr>
            </a:pPr>
            <a:r>
              <a:t>With 22 total events, deep neural nets severely overfit, require heavy compute, and destroy interpretability.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1920240"/>
            <a:ext cx="5175504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47104" y="2194560"/>
            <a:ext cx="4626864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0284C7"/>
                </a:solidFill>
              </a:defRPr>
            </a:pPr>
            <a:r>
              <a:t>Valuable Future Scope</a:t>
            </a:r>
          </a:p>
          <a:p>
            <a:pPr>
              <a:spcBef>
                <a:spcPts val="400"/>
              </a:spcBef>
              <a:defRPr sz="1600" b="1">
                <a:solidFill>
                  <a:srgbClr val="0284C7"/>
                </a:solidFill>
              </a:defRPr>
            </a:pPr>
            <a:r>
              <a:t>Physics-Informed Neural Networks (PINNs): FUTURE SCOPE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</a:defRPr>
            </a:pPr>
            <a:r>
              <a:t>Embedding Navier-Stokes and heat diffusion differential equations directly into loss functions for thermodynamic modeling.</a:t>
            </a:r>
          </a:p>
          <a:p>
            <a:pPr>
              <a:spcBef>
                <a:spcPts val="400"/>
              </a:spcBef>
              <a:defRPr sz="1600" b="1">
                <a:solidFill>
                  <a:srgbClr val="0284C7"/>
                </a:solidFill>
              </a:defRPr>
            </a:pPr>
            <a:r>
              <a:t>High-Frequency Vibration Telemetry: FUTURE SCOPE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</a:defRPr>
            </a:pPr>
            <a:r>
              <a:t>Integrating 10-kHz accelerometer streams for bearing inner/outer race defect frequency analysis (BPFO/BPFI).</a:t>
            </a:r>
          </a:p>
          <a:p>
            <a:pPr>
              <a:spcBef>
                <a:spcPts val="400"/>
              </a:spcBef>
              <a:defRPr sz="1600" b="1">
                <a:solidFill>
                  <a:srgbClr val="0284C7"/>
                </a:solidFill>
              </a:defRPr>
            </a:pPr>
            <a:r>
              <a:t>Cross-Farm Transfer Learning: FUTURE SCOPE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</a:defRPr>
            </a:pPr>
            <a:r>
              <a:t>Domain-adaptation models transferring failure patterns learned from Farm A (Portugal) to offshore Farm C (Germany).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THEORETICAL CHALLENGE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0F172A"/>
                </a:solidFill>
              </a:defRPr>
            </a:pPr>
            <a:r>
              <a:t>The Black-Box Trust Problem: SHAP &amp; LIME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>
                <a:solidFill>
                  <a:srgbClr val="475569"/>
                </a:solidFill>
              </a:defRPr>
            </a:pPr>
            <a:r>
              <a:t>Why operators reject unexplained alerts and how XAI proved physical fidelity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28416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296265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E3A8A"/>
                </a:solidFill>
              </a:defRPr>
            </a:pPr>
            <a:r>
              <a:t>The Operator's Dilemma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If an AI flags a turbine as '90% Risk' without explanation, maintenance crews will ignore it.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Technicians must know WHICH component to inspect: the gearbox, the generator, or the transformer?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Black box predictions create distrust and alert fatigue.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920240"/>
            <a:ext cx="3328416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2103120"/>
            <a:ext cx="296265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0284C7"/>
                </a:solidFill>
              </a:defRPr>
            </a:pPr>
            <a:r>
              <a:t>How SHAP Solves It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TreeSHAP calculates exact additive Shapley values based on game theory.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Allocates exact risk 'points' to every individual sensor channel.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Global SHAP reveals fleet-wide thermal drift drivers.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Local SHAP waterfalls explain the exact alert moment for a specific turbine.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1920240"/>
            <a:ext cx="3328416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2" y="2103120"/>
            <a:ext cx="296265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6A34A"/>
                </a:solidFill>
              </a:defRPr>
            </a:pPr>
            <a:r>
              <a:t>Ground Truth Match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GEARBOX (Ev 72): Top SHAP feature was gearbox bearing temperature (+4.3°C rise).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GENERATOR (Ev 0): Drive-end bearing temperature surged to 76°C-94°C, triggering alarm.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TRANSFORMER (Ev 68): Phase L1 reached 117°C, dominating local SHAP attributions.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HEALTHY (Ev 25): Negative scores across all components (zero alarm).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THEORETICAL CHALLENGE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0F172A"/>
                </a:solidFill>
              </a:defRPr>
            </a:pPr>
            <a:r>
              <a:t>Asymmetric Financial Economics &amp; Thresholding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>
                <a:solidFill>
                  <a:srgbClr val="475569"/>
                </a:solidFill>
              </a:defRPr>
            </a:pPr>
            <a:r>
              <a:t>Why standard 50% accuracy fails in operations, and how cost matrices save millions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175504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4626864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DC2626"/>
                </a:solidFill>
              </a:defRPr>
            </a:pPr>
            <a:r>
              <a:t>The Asymmetric Cost Matrix</a:t>
            </a:r>
          </a:p>
          <a:p>
            <a:pPr>
              <a:spcAft>
                <a:spcPts val="1000"/>
              </a:spcAft>
              <a:defRPr sz="1600">
                <a:solidFill>
                  <a:srgbClr val="0F172A"/>
                </a:solidFill>
              </a:defRPr>
            </a:pPr>
            <a:r>
              <a:t>• MISSED FAILURE (False Negative): $150,000 - $300,000. Shattered gearbox, offshore vessel chartering, 6 weeks lost power.</a:t>
            </a:r>
          </a:p>
          <a:p>
            <a:pPr>
              <a:spcAft>
                <a:spcPts val="1000"/>
              </a:spcAft>
              <a:defRPr sz="1600">
                <a:solidFill>
                  <a:srgbClr val="0F172A"/>
                </a:solidFill>
              </a:defRPr>
            </a:pPr>
            <a:r>
              <a:t>• FALSE ALARM (False Positive): $3,500. Remote log diagnostics and routine technician inspection visit.</a:t>
            </a:r>
          </a:p>
          <a:p>
            <a:pPr>
              <a:spcAft>
                <a:spcPts val="1000"/>
              </a:spcAft>
              <a:defRPr sz="1600">
                <a:solidFill>
                  <a:srgbClr val="0F172A"/>
                </a:solidFill>
              </a:defRPr>
            </a:pPr>
            <a:r>
              <a:t>• PLANNED REPAIR (True Positive): $8,000. Uptower bearing replacement during scheduled calm weather window.</a:t>
            </a:r>
          </a:p>
          <a:p>
            <a:pPr>
              <a:spcAft>
                <a:spcPts val="1000"/>
              </a:spcAft>
              <a:defRPr sz="1600">
                <a:solidFill>
                  <a:srgbClr val="0F172A"/>
                </a:solidFill>
              </a:defRPr>
            </a:pPr>
            <a:r>
              <a:t>• CRITICAL REALITY: Missing a breakdown is 40 TIMES MORE EXPENSIVE than sending a technician on a false alarm!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1920240"/>
            <a:ext cx="5175504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47104" y="2194560"/>
            <a:ext cx="4626864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16A34A"/>
                </a:solidFill>
              </a:defRPr>
            </a:pPr>
            <a:r>
              <a:t>The Cost-Optimal Threshold</a:t>
            </a:r>
          </a:p>
          <a:p>
            <a:pPr>
              <a:spcAft>
                <a:spcPts val="1000"/>
              </a:spcAft>
              <a:defRPr sz="1600">
                <a:solidFill>
                  <a:srgbClr val="0F172A"/>
                </a:solidFill>
              </a:defRPr>
            </a:pPr>
            <a:r>
              <a:t>• In textbooks, models use a 0.50 (50%) decision threshold.</a:t>
            </a:r>
          </a:p>
          <a:p>
            <a:pPr>
              <a:spcAft>
                <a:spcPts val="1000"/>
              </a:spcAft>
              <a:defRPr sz="1600">
                <a:solidFill>
                  <a:srgbClr val="0F172A"/>
                </a:solidFill>
              </a:defRPr>
            </a:pPr>
            <a:r>
              <a:t>• In wind energy, a 50% threshold allows too many catastrophic gearboxes to slip through.</a:t>
            </a:r>
          </a:p>
          <a:p>
            <a:pPr>
              <a:spcAft>
                <a:spcPts val="1000"/>
              </a:spcAft>
              <a:defRPr sz="1600">
                <a:solidFill>
                  <a:srgbClr val="0F172A"/>
                </a:solidFill>
              </a:defRPr>
            </a:pPr>
            <a:r>
              <a:t>• By plotting the Total Fleet Cost Curve, we discovered the economically optimal threshold is 0.30 - 0.35.</a:t>
            </a:r>
          </a:p>
          <a:p>
            <a:pPr>
              <a:spcAft>
                <a:spcPts val="1000"/>
              </a:spcAft>
              <a:defRPr sz="1600">
                <a:solidFill>
                  <a:srgbClr val="0F172A"/>
                </a:solidFill>
              </a:defRPr>
            </a:pPr>
            <a:r>
              <a:t>• This sweet spot catches impending failures 8 to 34 days early while keeping technician inspection costs under control.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DECISION SUPPORT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0F172A"/>
                </a:solidFill>
              </a:defRPr>
            </a:pPr>
            <a:r>
              <a:t>Deployment: The Production Shiny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>
                <a:solidFill>
                  <a:srgbClr val="475569"/>
                </a:solidFill>
              </a:defRPr>
            </a:pPr>
            <a:r>
              <a:t>Empowering wind farm operators and financial executives with interactive analytics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175504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4626864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1E3A8A"/>
                </a:solidFill>
              </a:defRPr>
            </a:pPr>
            <a:r>
              <a:t>5 Operational Dashboard Tabs</a:t>
            </a:r>
          </a:p>
          <a:p>
            <a:pPr>
              <a:spcBef>
                <a:spcPts val="400"/>
              </a:spcBef>
              <a:defRPr sz="1600" b="1">
                <a:solidFill>
                  <a:srgbClr val="0284C7"/>
                </a:solidFill>
              </a:defRPr>
            </a:pPr>
            <a:r>
              <a:t>1. Fleet Overview:</a:t>
            </a:r>
          </a:p>
          <a:p>
            <a:pPr>
              <a:spcAft>
                <a:spcPts val="600"/>
              </a:spcAft>
              <a:defRPr sz="1400">
                <a:solidFill>
                  <a:srgbClr val="0F172A"/>
                </a:solidFill>
              </a:defRPr>
            </a:pPr>
            <a:r>
              <a:t>Live status cards across 3 wind farms, turbine catalog &amp; event registry.</a:t>
            </a:r>
          </a:p>
          <a:p>
            <a:pPr>
              <a:spcBef>
                <a:spcPts val="400"/>
              </a:spcBef>
              <a:defRPr sz="1600" b="1">
                <a:solidFill>
                  <a:srgbClr val="0284C7"/>
                </a:solidFill>
              </a:defRPr>
            </a:pPr>
            <a:r>
              <a:t>2. SCADA Telemetry Studio:</a:t>
            </a:r>
          </a:p>
          <a:p>
            <a:pPr>
              <a:spcAft>
                <a:spcPts val="600"/>
              </a:spcAft>
              <a:defRPr sz="1400">
                <a:solidFill>
                  <a:srgbClr val="0F172A"/>
                </a:solidFill>
              </a:defRPr>
            </a:pPr>
            <a:r>
              <a:t>Multi-sensor time-series plots (Delta T, wind, power) + real-time risk timeline.</a:t>
            </a:r>
          </a:p>
          <a:p>
            <a:pPr>
              <a:spcBef>
                <a:spcPts val="400"/>
              </a:spcBef>
              <a:defRPr sz="1600" b="1">
                <a:solidFill>
                  <a:srgbClr val="0284C7"/>
                </a:solidFill>
              </a:defRPr>
            </a:pPr>
            <a:r>
              <a:t>3. Model Benchmark &amp; CARE:</a:t>
            </a:r>
          </a:p>
          <a:p>
            <a:pPr>
              <a:spcAft>
                <a:spcPts val="600"/>
              </a:spcAft>
              <a:defRPr sz="1400">
                <a:solidFill>
                  <a:srgbClr val="0F172A"/>
                </a:solidFill>
              </a:defRPr>
            </a:pPr>
            <a:r>
              <a:t>Leave-One-Turbine-Out validation stats, confusion matrix &amp; lead times.</a:t>
            </a:r>
          </a:p>
          <a:p>
            <a:pPr>
              <a:spcBef>
                <a:spcPts val="400"/>
              </a:spcBef>
              <a:defRPr sz="1600" b="1">
                <a:solidFill>
                  <a:srgbClr val="0284C7"/>
                </a:solidFill>
              </a:defRPr>
            </a:pPr>
            <a:r>
              <a:t>4. Explainable AI Studio:</a:t>
            </a:r>
          </a:p>
          <a:p>
            <a:pPr>
              <a:spcAft>
                <a:spcPts val="600"/>
              </a:spcAft>
              <a:defRPr sz="1400">
                <a:solidFill>
                  <a:srgbClr val="0F172A"/>
                </a:solidFill>
              </a:defRPr>
            </a:pPr>
            <a:r>
              <a:t>Interactive SHAP waterfall and LIME rules for every failure mode.</a:t>
            </a:r>
          </a:p>
          <a:p>
            <a:pPr>
              <a:spcBef>
                <a:spcPts val="400"/>
              </a:spcBef>
              <a:defRPr sz="1600" b="1">
                <a:solidFill>
                  <a:srgbClr val="0284C7"/>
                </a:solidFill>
              </a:defRPr>
            </a:pPr>
            <a:r>
              <a:t>5. Business ROI Calculator:</a:t>
            </a:r>
          </a:p>
          <a:p>
            <a:pPr>
              <a:spcAft>
                <a:spcPts val="600"/>
              </a:spcAft>
              <a:defRPr sz="1400">
                <a:solidFill>
                  <a:srgbClr val="0F172A"/>
                </a:solidFill>
              </a:defRPr>
            </a:pPr>
            <a:r>
              <a:t>Interactive cost sliders calculating net fleet dollar savings.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1920240"/>
            <a:ext cx="5175504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47104" y="2194560"/>
            <a:ext cx="4626864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16A34A"/>
                </a:solidFill>
              </a:defRPr>
            </a:pPr>
            <a:r>
              <a:t>Deployment &amp; Running Locally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BUILT WITH R &amp; BSLIB: Modern industrial Darkly theme with responsive cards and SVG icons.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INSTANT LAUNCH: One-click launcher script in the project root: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  Rscript run_app.R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Or inside an active R session / RStudio: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  shiny::runApp('shiny_app')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Runs on http://127.0.0.1:3838 with instant reactive plots, requiring zero cloud dependencies.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SUMMARY &amp; KEY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0F172A"/>
                </a:solidFill>
              </a:defRPr>
            </a:pPr>
            <a:r>
              <a:t>The 5-Point Presenter's Cheat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>
                <a:solidFill>
                  <a:srgbClr val="475569"/>
                </a:solidFill>
              </a:defRPr>
            </a:pPr>
            <a:r>
              <a:t>Everything you need to deliver a convincing, memorable presentation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74519"/>
            <a:ext cx="1069848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84247"/>
            <a:ext cx="10149840" cy="557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E3A8A"/>
                </a:solidFill>
              </a:defRPr>
            </a:pPr>
            <a:r>
              <a:t>1. Real Physics, Not Fake Data  —  </a:t>
            </a:r>
            <a:r>
              <a:rPr sz="1600" b="0">
                <a:solidFill>
                  <a:srgbClr val="0F172A"/>
                </a:solidFill>
              </a:rPr>
              <a:t>Rejected synthetic SMOTE and purged post-trip status codes; 100% genuine sensor telemetry.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807207"/>
            <a:ext cx="1069848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916935"/>
            <a:ext cx="10149840" cy="557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E3A8A"/>
                </a:solidFill>
              </a:defRPr>
            </a:pPr>
            <a:r>
              <a:t>2. The 'Rising Fever' Method  —  </a:t>
            </a:r>
            <a:r>
              <a:rPr sz="1600" b="0">
                <a:solidFill>
                  <a:srgbClr val="0F172A"/>
                </a:solidFill>
              </a:rPr>
              <a:t>Differential temperatures (Delta T) subtracted weather fluctuations and exposed true mechanical friction.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739895"/>
            <a:ext cx="1069848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849623"/>
            <a:ext cx="10149840" cy="557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E3A8A"/>
                </a:solidFill>
              </a:defRPr>
            </a:pPr>
            <a:r>
              <a:t>3. Sub-Second Speed  —  </a:t>
            </a:r>
            <a:r>
              <a:rPr sz="1600" b="0">
                <a:solidFill>
                  <a:srgbClr val="0F172A"/>
                </a:solidFill>
              </a:rPr>
              <a:t>XGBoost trains in 0.67 seconds on 100k rows (109 MB RAM), reaching 0.83 AUC on completely unseen turbines.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672583"/>
            <a:ext cx="1069848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782311"/>
            <a:ext cx="10149840" cy="557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E3A8A"/>
                </a:solidFill>
              </a:defRPr>
            </a:pPr>
            <a:r>
              <a:t>4. 8 to 34 Days Lead Time  —  </a:t>
            </a:r>
            <a:r>
              <a:rPr sz="1600" b="0">
                <a:solidFill>
                  <a:srgbClr val="0F172A"/>
                </a:solidFill>
              </a:rPr>
              <a:t>Achieved multi-week early warning across gearboxes, generator bearings, transformers, and hydraulics.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605271"/>
            <a:ext cx="1069848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14999"/>
            <a:ext cx="10149840" cy="557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E3A8A"/>
                </a:solidFill>
              </a:defRPr>
            </a:pPr>
            <a:r>
              <a:t>5. Explainable &amp; Actionable  —  </a:t>
            </a:r>
            <a:r>
              <a:rPr sz="1600" b="0">
                <a:solidFill>
                  <a:srgbClr val="0F172A"/>
                </a:solidFill>
              </a:rPr>
              <a:t>SHAP and LIME prove alerts match physical components; Shiny dashboard empowers operators with ROI calculators.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